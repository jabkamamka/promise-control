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 секунд. Кейс УралМикро: обещание оператора теряется между звонками. Мы сделали сервис, который находит обещания в расшифровке и превращает их в задачи со сроком. Дальше — проблема, решение, демо и ограничения.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50 секунд. Проблема не в том, что оператор забыл, а в том, что обещание нигде не зафиксировано. В среднем 3,6 обещания на звонок. Дальше покажу, как это превращается в задачи.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55 секунд. Четыре шага: вебхук принимает звонки, детектор ищет обещания только в репликах оператора, каждое обещание становится задачей со сроком, дальше оператор ведёт статус. Всё умещается в один процесс — это важно для запуска на школьном компьютере.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80 секунд. Вот живая панель: 189 задач из 52 звонков, 22 уже просрочены — сервис посчитал сам. Покажу карточку: тип, срок, цитата, кнопки статуса. Кнопка «звонок» открывает расшифровку с подсветкой обещаний.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55 секунд. Ключевое: обещание — это глагол оператора в первом лице. Клиентские обещания, вопросы и прошедшее время не считаются. В одном звонке обычно 3–5 обещаний — каждое становится отдельной задачей. Тип выбирается по объекту и адресату, спорные случаи решает приоритет.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 секунд. Парсер понимает числа словами, дни недели, рабочие дни и концы периодов. Если срок не назван — 24 часа. Фраза-источник сохраняется, чтобы на защите и в интерфейсе было видно, почему дедлайн такой.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 секунд. Повторная обработка звонка не создаёт дублей — уникальный ключ в базе. Статусы ограничены правилами переходов, просрочка фиксируется в истории. Новый тип обещания добавляется через API: описание, ключевые слова, примеры — и он сразу работает.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 секунд. Честно про ограничения: проверку исполнения не делали — кейс разрешает; поиск на правилах, а не на модели; SQLite. Следующий шаг — пилот на реальной нагрузке и замер точности проверки.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 секунд. Итог: 52 звонка, 189 задач, 3,6 обещания на звонок, 78 тестов. Проверка исполнения по следующим звонкам уже работает. Дальше — пилот и точность. Спасибо, готовы к вопросам.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05156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F59E0B"/>
                </a:solidFill>
                <a:latin typeface="Segoe UI"/>
              </a:rPr>
              <a:t>КЕЙС УРАЛМИКРО · ХАКАТОН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69494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5200" b="1">
                <a:solidFill>
                  <a:srgbClr val="FFFFFF"/>
                </a:solidFill>
                <a:latin typeface="Segoe UI"/>
              </a:rPr>
              <a:t>Сервис контроля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5200" b="1">
                <a:solidFill>
                  <a:srgbClr val="FFFFFF"/>
                </a:solidFill>
                <a:latin typeface="Segoe UI"/>
              </a:rPr>
              <a:t>обещаний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611880"/>
            <a:ext cx="6309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0">
                <a:solidFill>
                  <a:srgbClr val="C7CBE3"/>
                </a:solidFill>
                <a:latin typeface="Segoe UI"/>
              </a:rPr>
              <a:t>Расшифровка звонка → найденные обещания →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0">
                <a:solidFill>
                  <a:srgbClr val="C7CBE3"/>
                </a:solidFill>
                <a:latin typeface="Segoe UI"/>
              </a:rPr>
              <a:t>задачи со сроком и статусом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60920" y="1600200"/>
            <a:ext cx="4160520" cy="2514600"/>
          </a:xfrm>
          <a:prstGeom prst="roundRect">
            <a:avLst>
              <a:gd name="adj" fmla="val 6000"/>
            </a:avLst>
          </a:prstGeom>
          <a:solidFill>
            <a:srgbClr val="1E2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7635240" y="1874519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ПРОСРОЧЕНО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35240" y="233172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Segoe UI"/>
              </a:rPr>
              <a:t>Перезвонить клиенту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834640"/>
            <a:ext cx="36118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C7CBE3"/>
                </a:solidFill>
                <a:latin typeface="Segoe UI"/>
              </a:rPr>
              <a:t>«Перезвоню вам завтра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C7CBE3"/>
                </a:solidFill>
                <a:latin typeface="Segoe UI"/>
              </a:rPr>
              <a:t>в десять утра»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61188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9CA3AF"/>
                </a:solidFill>
                <a:latin typeface="Segoe UI"/>
              </a:rPr>
              <a:t>срок: 30 окт, 10:00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5508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9CA3AF"/>
                </a:solidFill>
                <a:latin typeface="Segoe UI"/>
              </a:rPr>
              <a:t>github.com/jabkamamka/promise-control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4F46E5"/>
                </a:solidFill>
                <a:latin typeface="Segoe UI"/>
              </a:rPr>
              <a:t>ПРОБЛЕМА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1153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600" b="1">
                <a:solidFill>
                  <a:srgbClr val="1B1F2A"/>
                </a:solidFill>
                <a:latin typeface="Segoe UI"/>
              </a:rPr>
              <a:t>Обещание теряется между звонками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57607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800" b="0">
                <a:solidFill>
                  <a:srgbClr val="6B7280"/>
                </a:solidFill>
                <a:latin typeface="Segoe UI"/>
              </a:rPr>
              <a:t>Оператор пообещал перезвонить, выставить счёт или уточнить —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800" b="0">
                <a:solidFill>
                  <a:srgbClr val="6B7280"/>
                </a:solidFill>
                <a:latin typeface="Segoe UI"/>
              </a:rPr>
              <a:t>и это нигде не зафиксировано.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63240"/>
            <a:ext cx="14173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F59E0B"/>
                </a:solidFill>
                <a:latin typeface="Segoe UI"/>
              </a:rPr>
              <a:t>3,6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40280" y="3108960"/>
            <a:ext cx="397763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6B7280"/>
                </a:solidFill>
                <a:latin typeface="Segoe UI"/>
              </a:rPr>
              <a:t>обещания на один звонок —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6B7280"/>
                </a:solidFill>
                <a:latin typeface="Segoe UI"/>
              </a:rPr>
              <a:t>замер на 52 расшифровках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69080"/>
            <a:ext cx="14173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4F46E5"/>
                </a:solidFill>
                <a:latin typeface="Segoe UI"/>
              </a:rPr>
              <a:t>24 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40280" y="4114800"/>
            <a:ext cx="397763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6B7280"/>
                </a:solidFill>
                <a:latin typeface="Segoe UI"/>
              </a:rPr>
              <a:t>срок по умолчанию, если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6B7280"/>
                </a:solidFill>
                <a:latin typeface="Segoe UI"/>
              </a:rPr>
              <a:t>дата в разговоре не названа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074920"/>
            <a:ext cx="14173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4F46E5"/>
                </a:solidFill>
                <a:latin typeface="Segoe UI"/>
              </a:rPr>
              <a:t>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0280" y="5120640"/>
            <a:ext cx="397763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6B7280"/>
                </a:solidFill>
                <a:latin typeface="Segoe UI"/>
              </a:rPr>
              <a:t>типов обещаний: от звонка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6B7280"/>
                </a:solidFill>
                <a:latin typeface="Segoe UI"/>
              </a:rPr>
              <a:t>и документов до выезда мастера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03720" y="1874519"/>
            <a:ext cx="4617720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223760" y="2148840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6B7280"/>
                </a:solidFill>
                <a:latin typeface="Segoe UI"/>
              </a:rPr>
              <a:t>ИЗ РАСШИФРОВКИ ЗВОНКА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487168"/>
            <a:ext cx="40233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700" b="0">
                <a:solidFill>
                  <a:srgbClr val="1B1F2A"/>
                </a:solidFill>
                <a:latin typeface="Segoe UI"/>
              </a:rPr>
              <a:t>«Мне нужно уточнить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700" b="0">
                <a:solidFill>
                  <a:srgbClr val="1B1F2A"/>
                </a:solidFill>
                <a:latin typeface="Segoe UI"/>
              </a:rPr>
              <a:t>у производства. Я вам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700" b="0">
                <a:solidFill>
                  <a:srgbClr val="1B1F2A"/>
                </a:solidFill>
                <a:latin typeface="Segoe UI"/>
              </a:rPr>
              <a:t>перезвоню в понедельник…»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3840480"/>
            <a:ext cx="4023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Segoe UI"/>
              </a:rPr>
              <a:t>— оператор, 4 минуты разговора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422452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4F46E5"/>
                </a:solidFill>
                <a:latin typeface="Segoe UI"/>
              </a:rPr>
              <a:t>Где этот понедельник? Кто проверит?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35508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Segoe UI"/>
              </a:rPr>
              <a:t>Источник: 52 расшифровки из API УралМикро, прогон сервиса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4F46E5"/>
                </a:solidFill>
                <a:latin typeface="Segoe UI"/>
              </a:rPr>
              <a:t>РЕШЕНИЕ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1153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600" b="1">
                <a:solidFill>
                  <a:srgbClr val="1B1F2A"/>
                </a:solidFill>
                <a:latin typeface="Segoe UI"/>
              </a:rPr>
              <a:t>От звонка до закрытой задачи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65960"/>
            <a:ext cx="2395728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896112" y="2240280"/>
            <a:ext cx="502920" cy="502920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2880360"/>
            <a:ext cx="1938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1B1F2A"/>
                </a:solidFill>
                <a:latin typeface="Segoe UI"/>
              </a:rPr>
              <a:t>Звонок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3383280"/>
            <a:ext cx="1938528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Segoe UI"/>
              </a:rPr>
              <a:t>POST /webhook/calls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Segoe UI"/>
              </a:rPr>
              <a:t>10 звонков за раз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Segoe UI"/>
              </a:rPr>
              <a:t>повтор не создаёт дублей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136392" y="3246120"/>
            <a:ext cx="182880" cy="201168"/>
          </a:xfrm>
          <a:prstGeom prst="rightArrow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3419856" y="1965960"/>
            <a:ext cx="2395728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3675888" y="2240280"/>
            <a:ext cx="502920" cy="502920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75888" y="2880360"/>
            <a:ext cx="1938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1B1F2A"/>
                </a:solidFill>
                <a:latin typeface="Segoe UI"/>
              </a:rPr>
              <a:t>Поиск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75888" y="3383280"/>
            <a:ext cx="1938528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Segoe UI"/>
              </a:rPr>
              <a:t>только реплики оператора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Segoe UI"/>
              </a:rPr>
              <a:t>7 типов обещаний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Segoe UI"/>
              </a:rPr>
              <a:t>смысл, а не ключевые слова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916168" y="3246120"/>
            <a:ext cx="182880" cy="201168"/>
          </a:xfrm>
          <a:prstGeom prst="rightArrow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6199632" y="1965960"/>
            <a:ext cx="2395728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6455664" y="2240280"/>
            <a:ext cx="502920" cy="502920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5664" y="2880360"/>
            <a:ext cx="1938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1B1F2A"/>
                </a:solidFill>
                <a:latin typeface="Segoe UI"/>
              </a:rPr>
              <a:t>Задача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5664" y="3383280"/>
            <a:ext cx="1938528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Segoe UI"/>
              </a:rPr>
              <a:t>срок из фразы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Segoe UI"/>
              </a:rPr>
              <a:t>цитата и номер реплики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Segoe UI"/>
              </a:rPr>
              <a:t>свой тип через API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695944" y="3246120"/>
            <a:ext cx="182880" cy="201168"/>
          </a:xfrm>
          <a:prstGeom prst="rightArrow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8979408" y="1965960"/>
            <a:ext cx="2395728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9235440" y="2240280"/>
            <a:ext cx="502920" cy="502920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0" y="2880360"/>
            <a:ext cx="1938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1B1F2A"/>
                </a:solidFill>
                <a:latin typeface="Segoe UI"/>
              </a:rPr>
              <a:t>Статус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0" y="3383280"/>
            <a:ext cx="1938528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Segoe UI"/>
              </a:rPr>
              <a:t>создана → в работе →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Segoe UI"/>
              </a:rPr>
              <a:t>выполнена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Segoe UI"/>
              </a:rPr>
              <a:t>просрочка и проверка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25780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 b="0">
                <a:solidFill>
                  <a:srgbClr val="1B1F2A"/>
                </a:solidFill>
                <a:latin typeface="Segoe UI"/>
              </a:rPr>
              <a:t>Один Python-процесс и SQLite: запускается на школьном ноутбуке одной командой, работает без интернета.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35508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Segoe UI"/>
              </a:rPr>
              <a:t>Стек: Python 3.11+, FastAPI, SQLite, 78 тестов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4F46E5"/>
                </a:solidFill>
                <a:latin typeface="Segoe UI"/>
              </a:rPr>
              <a:t>ДЕМОНСТРАЦИЯ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1153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600" b="1">
                <a:solidFill>
                  <a:srgbClr val="1B1F2A"/>
                </a:solidFill>
                <a:latin typeface="Segoe UI"/>
              </a:rPr>
              <a:t>189 задач из 52 звонков</a:t>
            </a:r>
          </a:p>
        </p:txBody>
      </p:sp>
      <p:pic>
        <p:nvPicPr>
          <p:cNvPr id="4" name="Picture 3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28800"/>
            <a:ext cx="6583680" cy="4572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" y="1828800"/>
            <a:ext cx="6583680" cy="4572000"/>
          </a:xfrm>
          <a:prstGeom prst="rect">
            <a:avLst/>
          </a:prstGeom>
          <a:noFill/>
          <a:ln w="12700">
            <a:solidFill>
              <a:srgbClr val="E5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543800" y="1874519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3730A3"/>
                </a:solidFill>
                <a:latin typeface="Segoe UI"/>
              </a:rPr>
              <a:t>Фильтры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43800" y="2167127"/>
            <a:ext cx="3886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Segoe UI"/>
              </a:rPr>
              <a:t>статус, тип, оператор,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Segoe UI"/>
              </a:rPr>
              <a:t>срок, поиск по цитате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43800" y="2926079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3730A3"/>
                </a:solidFill>
                <a:latin typeface="Segoe UI"/>
              </a:rPr>
              <a:t>Цитата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43800" y="3218687"/>
            <a:ext cx="3886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Segoe UI"/>
              </a:rPr>
              <a:t>у каждой задачи — реплика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Segoe UI"/>
              </a:rPr>
              <a:t>оператора и её номер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43800" y="3977639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3730A3"/>
                </a:solidFill>
                <a:latin typeface="Segoe UI"/>
              </a:rPr>
              <a:t>Статус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3800" y="4270248"/>
            <a:ext cx="3886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Segoe UI"/>
              </a:rPr>
              <a:t>в работу и выполнено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Segoe UI"/>
              </a:rPr>
              <a:t>прямо из карточки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0" y="502920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3730A3"/>
                </a:solidFill>
                <a:latin typeface="Segoe UI"/>
              </a:rPr>
              <a:t>Звонок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43800" y="5321808"/>
            <a:ext cx="3886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Segoe UI"/>
              </a:rPr>
              <a:t>расшифровка целиком,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Segoe UI"/>
              </a:rPr>
              <a:t>обещания подсвечены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35508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Segoe UI"/>
              </a:rPr>
              <a:t>Панель оператора: http://localhost:8080/ · Swagger: /docs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4F46E5"/>
                </a:solidFill>
                <a:latin typeface="Segoe UI"/>
              </a:rPr>
              <a:t>КАК РАБОТАЕТ ПОИСК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1153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600" b="1">
                <a:solidFill>
                  <a:srgbClr val="1B1F2A"/>
                </a:solidFill>
                <a:latin typeface="Segoe UI"/>
              </a:rPr>
              <a:t>Обещание — глагол оператора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50" b="1">
                <a:solidFill>
                  <a:srgbClr val="1B1F2A"/>
                </a:solidFill>
                <a:latin typeface="Segoe UI"/>
              </a:rPr>
              <a:t>Только оператор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39"/>
            <a:ext cx="4526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Segoe UI"/>
              </a:rPr>
              <a:t>«Я пришлю вам фото» клиента — не обязательство компании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834639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50" b="1">
                <a:solidFill>
                  <a:srgbClr val="1B1F2A"/>
                </a:solidFill>
                <a:latin typeface="Segoe UI"/>
              </a:rPr>
              <a:t>Будущее время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108959"/>
            <a:ext cx="4526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Segoe UI"/>
              </a:rPr>
              <a:t>«перезвоню», «отправлю», «уточню»; вопросы и прошедшее время отсекаются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94759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50" b="1">
                <a:solidFill>
                  <a:srgbClr val="1B1F2A"/>
                </a:solidFill>
                <a:latin typeface="Segoe UI"/>
              </a:rPr>
              <a:t>Тип по объекту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069079"/>
            <a:ext cx="4526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Segoe UI"/>
              </a:rPr>
              <a:t>документ → выслать, «смс» → напомнить, «выезд» → визит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754879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50" b="1">
                <a:solidFill>
                  <a:srgbClr val="1B1F2A"/>
                </a:solidFill>
                <a:latin typeface="Segoe UI"/>
              </a:rPr>
              <a:t>Приоритет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029199"/>
            <a:ext cx="4526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Segoe UI"/>
              </a:rPr>
              <a:t>если в реплике два действия — побеждает то, что клиент увидит сам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0" y="1828800"/>
            <a:ext cx="6035040" cy="4069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5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760720" y="20116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6B7280"/>
                </a:solidFill>
                <a:latin typeface="Segoe UI"/>
              </a:rPr>
              <a:t>ОДИН ЗВОНОК — ЧЕТЫРЕ ОБЕЩАНИЯ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15000" y="2340864"/>
            <a:ext cx="5577840" cy="566928"/>
          </a:xfrm>
          <a:prstGeom prst="roundRect">
            <a:avLst>
              <a:gd name="adj" fmla="val 12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852160" y="237744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F46E5"/>
                </a:solidFill>
                <a:latin typeface="Segoe UI"/>
              </a:rPr>
              <a:t>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2377440"/>
            <a:ext cx="4983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B1F2A"/>
                </a:solidFill>
                <a:latin typeface="Segoe UI"/>
              </a:rPr>
              <a:t>Мне нужно уточнить у производства. Я вам перезвоню в понедельник.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715000" y="2999232"/>
            <a:ext cx="5577840" cy="566928"/>
          </a:xfrm>
          <a:prstGeom prst="roundRect">
            <a:avLst>
              <a:gd name="adj" fmla="val 12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852160" y="303580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F46E5"/>
                </a:solidFill>
                <a:latin typeface="Segoe UI"/>
              </a:rPr>
              <a:t>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72200" y="3035808"/>
            <a:ext cx="4983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B1F2A"/>
                </a:solidFill>
                <a:latin typeface="Segoe UI"/>
              </a:rPr>
              <a:t>Оформлю повторный выезд и свяжусь с вами завтра.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15000" y="3657600"/>
            <a:ext cx="5577840" cy="566928"/>
          </a:xfrm>
          <a:prstGeom prst="roundRect">
            <a:avLst>
              <a:gd name="adj" fmla="val 12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852160" y="369417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F46E5"/>
                </a:solidFill>
                <a:latin typeface="Segoe UI"/>
              </a:rPr>
              <a:t>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2200" y="3694176"/>
            <a:ext cx="4983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B1F2A"/>
                </a:solidFill>
                <a:latin typeface="Segoe UI"/>
              </a:rPr>
              <a:t>Не буду гадать, уточню у юристов и вернусь с ответом через день.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715000" y="4315968"/>
            <a:ext cx="5577840" cy="566928"/>
          </a:xfrm>
          <a:prstGeom prst="roundRect">
            <a:avLst>
              <a:gd name="adj" fmla="val 12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852160" y="43525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F46E5"/>
                </a:solidFill>
                <a:latin typeface="Segoe UI"/>
              </a:rPr>
              <a:t>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4352544"/>
            <a:ext cx="4983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B1F2A"/>
                </a:solidFill>
                <a:latin typeface="Segoe UI"/>
              </a:rPr>
              <a:t>Пришлю подробную инструкцию на вашу почту в течение получаса.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52160" y="50109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6B7280"/>
                </a:solidFill>
                <a:latin typeface="Segoe UI"/>
              </a:rPr>
              <a:t>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2200" y="5010912"/>
            <a:ext cx="4983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Segoe UI"/>
              </a:rPr>
              <a:t>Хорошо, жду.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989320"/>
            <a:ext cx="5760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3730A3"/>
                </a:solidFill>
                <a:latin typeface="Segoe UI"/>
              </a:rPr>
              <a:t>→ 4 задачи: 2 уточнения, 1 звонок, 1 документ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35508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Segoe UI"/>
              </a:rPr>
              <a:t>Правила описаны в app/services/taxonomy.py и detect.py — без чёрного ящика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4F46E5"/>
                </a:solidFill>
                <a:latin typeface="Segoe UI"/>
              </a:rPr>
              <a:t>СРОКИ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1153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600" b="1">
                <a:solidFill>
                  <a:srgbClr val="1B1F2A"/>
                </a:solidFill>
                <a:latin typeface="Segoe UI"/>
              </a:rPr>
              <a:t>«Завтра до обеда» = 30 окт, 12:00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828800"/>
          <a:ext cx="1088136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7840"/>
                <a:gridCol w="3108960"/>
                <a:gridCol w="2194560"/>
              </a:tblGrid>
              <a:tr h="50945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6B7280"/>
                          </a:solidFill>
                          <a:latin typeface="Segoe UI"/>
                        </a:rPr>
                        <a:t>Фраза в разговоре</a:t>
                      </a:r>
                    </a:p>
                  </a:txBody>
                  <a:tcPr marL="109728" marT="54864" marB="54864">
                    <a:solidFill>
                      <a:srgbClr val="EFF0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6B7280"/>
                          </a:solidFill>
                          <a:latin typeface="Segoe UI"/>
                        </a:rPr>
                        <a:t>Срок</a:t>
                      </a:r>
                    </a:p>
                  </a:txBody>
                  <a:tcPr marL="109728" marT="54864" marB="54864">
                    <a:solidFill>
                      <a:srgbClr val="EFF0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6B7280"/>
                          </a:solidFill>
                          <a:latin typeface="Segoe UI"/>
                        </a:rPr>
                        <a:t>Правило</a:t>
                      </a:r>
                    </a:p>
                  </a:txBody>
                  <a:tcPr marL="109728" marT="54864" marB="54864">
                    <a:solidFill>
                      <a:srgbClr val="EFF0F6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1F2A"/>
                          </a:solidFill>
                          <a:latin typeface="Segoe UI"/>
                        </a:rPr>
                        <a:t>Перезвоню в понедельник</a:t>
                      </a:r>
                    </a:p>
                  </a:txBody>
                  <a:tcPr marL="109728" marT="73152" marB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3730A3"/>
                          </a:solidFill>
                          <a:latin typeface="Segoe UI"/>
                        </a:rPr>
                        <a:t>пн, 18:00</a:t>
                      </a:r>
                    </a:p>
                  </a:txBody>
                  <a:tcPr marL="109728" marT="73152" marB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6B7280"/>
                          </a:solidFill>
                          <a:latin typeface="Segoe UI"/>
                        </a:rPr>
                        <a:t>день недели</a:t>
                      </a:r>
                    </a:p>
                  </a:txBody>
                  <a:tcPr marL="109728" marT="73152" marB="73152"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1F2A"/>
                          </a:solidFill>
                          <a:latin typeface="Segoe UI"/>
                        </a:rPr>
                        <a:t>Отправлю завтра до обеда</a:t>
                      </a:r>
                    </a:p>
                  </a:txBody>
                  <a:tcPr marL="109728" marT="73152" marB="73152">
                    <a:solidFill>
                      <a:srgbClr val="F9FA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3730A3"/>
                          </a:solidFill>
                          <a:latin typeface="Segoe UI"/>
                        </a:rPr>
                        <a:t>пт, 12:00</a:t>
                      </a:r>
                    </a:p>
                  </a:txBody>
                  <a:tcPr marL="109728" marT="73152" marB="73152">
                    <a:solidFill>
                      <a:srgbClr val="F9FA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6B7280"/>
                          </a:solidFill>
                          <a:latin typeface="Segoe UI"/>
                        </a:rPr>
                        <a:t>день + время суток</a:t>
                      </a:r>
                    </a:p>
                  </a:txBody>
                  <a:tcPr marL="109728" marT="73152" marB="73152">
                    <a:solidFill>
                      <a:srgbClr val="F9FA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1F2A"/>
                          </a:solidFill>
                          <a:latin typeface="Segoe UI"/>
                        </a:rPr>
                        <a:t>Пришлю в течение получаса</a:t>
                      </a:r>
                    </a:p>
                  </a:txBody>
                  <a:tcPr marL="109728" marT="73152" marB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3730A3"/>
                          </a:solidFill>
                          <a:latin typeface="Segoe UI"/>
                        </a:rPr>
                        <a:t>+30 минут</a:t>
                      </a:r>
                    </a:p>
                  </a:txBody>
                  <a:tcPr marL="109728" marT="73152" marB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6B7280"/>
                          </a:solidFill>
                          <a:latin typeface="Segoe UI"/>
                        </a:rPr>
                        <a:t>относительный</a:t>
                      </a:r>
                    </a:p>
                  </a:txBody>
                  <a:tcPr marL="109728" marT="73152" marB="73152"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1F2A"/>
                          </a:solidFill>
                          <a:latin typeface="Segoe UI"/>
                        </a:rPr>
                        <a:t>Вернусь в течение трёх рабочих дней</a:t>
                      </a:r>
                    </a:p>
                  </a:txBody>
                  <a:tcPr marL="109728" marT="73152" marB="73152">
                    <a:solidFill>
                      <a:srgbClr val="F9FA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3730A3"/>
                          </a:solidFill>
                          <a:latin typeface="Segoe UI"/>
                        </a:rPr>
                        <a:t>+3 рабочих дня, 18:00</a:t>
                      </a:r>
                    </a:p>
                  </a:txBody>
                  <a:tcPr marL="109728" marT="73152" marB="73152">
                    <a:solidFill>
                      <a:srgbClr val="F9FA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6B7280"/>
                          </a:solidFill>
                          <a:latin typeface="Segoe UI"/>
                        </a:rPr>
                        <a:t>рабочие дни</a:t>
                      </a:r>
                    </a:p>
                  </a:txBody>
                  <a:tcPr marL="109728" marT="73152" marB="73152">
                    <a:solidFill>
                      <a:srgbClr val="F9FA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1F2A"/>
                          </a:solidFill>
                          <a:latin typeface="Segoe UI"/>
                        </a:rPr>
                        <a:t>Отправлю до конца недели</a:t>
                      </a:r>
                    </a:p>
                  </a:txBody>
                  <a:tcPr marL="109728" marT="73152" marB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3730A3"/>
                          </a:solidFill>
                          <a:latin typeface="Segoe UI"/>
                        </a:rPr>
                        <a:t>пятница, 18:00</a:t>
                      </a:r>
                    </a:p>
                  </a:txBody>
                  <a:tcPr marL="109728" marT="73152" marB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6B7280"/>
                          </a:solidFill>
                          <a:latin typeface="Segoe UI"/>
                        </a:rPr>
                        <a:t>конец периода</a:t>
                      </a:r>
                    </a:p>
                  </a:txBody>
                  <a:tcPr marL="109728" marT="73152" marB="73152">
                    <a:solidFill>
                      <a:srgbClr val="FFFFFF"/>
                    </a:solidFill>
                  </a:tcPr>
                </a:tc>
              </a:tr>
              <a:tr h="509454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1F2A"/>
                          </a:solidFill>
                          <a:latin typeface="Segoe UI"/>
                        </a:rPr>
                        <a:t>Срок не назван</a:t>
                      </a:r>
                    </a:p>
                  </a:txBody>
                  <a:tcPr marL="109728" marT="73152" marB="73152">
                    <a:solidFill>
                      <a:srgbClr val="F9FA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3730A3"/>
                          </a:solidFill>
                          <a:latin typeface="Segoe UI"/>
                        </a:rPr>
                        <a:t>+24 часа</a:t>
                      </a:r>
                    </a:p>
                  </a:txBody>
                  <a:tcPr marL="109728" marT="73152" marB="73152">
                    <a:solidFill>
                      <a:srgbClr val="F9FA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6B7280"/>
                          </a:solidFill>
                          <a:latin typeface="Segoe UI"/>
                        </a:rPr>
                        <a:t>по умолчанию</a:t>
                      </a:r>
                    </a:p>
                  </a:txBody>
                  <a:tcPr marL="109728" marT="73152" marB="73152">
                    <a:solidFill>
                      <a:srgbClr val="F9FA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903720" y="5669280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Segoe UI"/>
              </a:rPr>
              <a:t>Если срок получился в прошлом —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Segoe UI"/>
              </a:rPr>
              <a:t>сдвигаем на час, а не помечаем просроченным сразу.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Segoe UI"/>
              </a:rPr>
              <a:t>Часовой пояс оператора из APP_TIMEZONE · фраза-источник сохраняется в due_hint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4F46E5"/>
                </a:solidFill>
                <a:latin typeface="Segoe UI"/>
              </a:rPr>
              <a:t>НАДЁЖНОСТЬ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1153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600" b="1">
                <a:solidFill>
                  <a:srgbClr val="1B1F2A"/>
                </a:solidFill>
                <a:latin typeface="Segoe UI"/>
              </a:rPr>
              <a:t>Дубли, статусы, новые типы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50" b="1">
                <a:solidFill>
                  <a:srgbClr val="1B1F2A"/>
                </a:solidFill>
                <a:latin typeface="Segoe UI"/>
              </a:rPr>
              <a:t>Защита от дублей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39"/>
            <a:ext cx="49834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Segoe UI"/>
              </a:rPr>
              <a:t>calls.id + UNIQUE dedupe_key: повторный звонок не создаёт задачи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715768"/>
            <a:ext cx="4983480" cy="10972"/>
          </a:xfrm>
          <a:prstGeom prst="rect">
            <a:avLst/>
          </a:prstGeom>
          <a:solidFill>
            <a:srgbClr val="E5E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2862072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50" b="1">
                <a:solidFill>
                  <a:srgbClr val="1B1F2A"/>
                </a:solidFill>
                <a:latin typeface="Segoe UI"/>
              </a:rPr>
              <a:t>Статусы и история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36391"/>
            <a:ext cx="49834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Segoe UI"/>
              </a:rPr>
              <a:t>создана → в работе → выполнена; просрочка вычисляется и пишется в историю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703320"/>
            <a:ext cx="4983480" cy="10972"/>
          </a:xfrm>
          <a:prstGeom prst="rect">
            <a:avLst/>
          </a:prstGeom>
          <a:solidFill>
            <a:srgbClr val="E5E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3849624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50" b="1">
                <a:solidFill>
                  <a:srgbClr val="1B1F2A"/>
                </a:solidFill>
                <a:latin typeface="Segoe UI"/>
              </a:rPr>
              <a:t>78 тестов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123944"/>
            <a:ext cx="49834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Segoe UI"/>
              </a:rPr>
              <a:t>сроки, детектор, API, идемпотентность, проверка исполнения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690872"/>
            <a:ext cx="4983480" cy="10972"/>
          </a:xfrm>
          <a:prstGeom prst="rect">
            <a:avLst/>
          </a:prstGeom>
          <a:solidFill>
            <a:srgbClr val="E5E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0080" y="4837176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50" b="1">
                <a:solidFill>
                  <a:srgbClr val="1B1F2A"/>
                </a:solidFill>
                <a:latin typeface="Segoe UI"/>
              </a:rPr>
              <a:t>Свой тип через API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111496"/>
            <a:ext cx="49834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Segoe UI"/>
              </a:rPr>
              <a:t>название, описание, ключевые слова — работает на следующих звонках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89320" y="1828800"/>
            <a:ext cx="5532120" cy="3383280"/>
          </a:xfrm>
          <a:prstGeom prst="roundRect">
            <a:avLst>
              <a:gd name="adj" fmla="val 4000"/>
            </a:avLst>
          </a:prstGeom>
          <a:solidFill>
            <a:srgbClr val="141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263640" y="201168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59E0B"/>
                </a:solidFill>
                <a:latin typeface="Consolas"/>
              </a:rPr>
              <a:t>POST /api/v1/promise-types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2331720"/>
            <a:ext cx="498348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E2E5F0"/>
                </a:solidFill>
                <a:latin typeface="Consolas"/>
              </a:rPr>
              <a:t>{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E2E5F0"/>
                </a:solidFill>
                <a:latin typeface="Consolas"/>
              </a:rPr>
              <a:t>  "title": "Согласовать скидку",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E2E5F0"/>
                </a:solidFill>
                <a:latin typeface="Consolas"/>
              </a:rPr>
              <a:t>  "description": "Оператор обещает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E2E5F0"/>
                </a:solidFill>
                <a:latin typeface="Consolas"/>
              </a:rPr>
              <a:t>    согласовать скидку и вернуться",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E2E5F0"/>
                </a:solidFill>
                <a:latin typeface="Consolas"/>
              </a:rPr>
              <a:t>  "keywords": ["скидк", "согласую"],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E2E5F0"/>
                </a:solidFill>
                <a:latin typeface="Consolas"/>
              </a:rPr>
              <a:t>  "examples": ["Согласую скидку"]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E2E5F0"/>
                </a:solidFill>
                <a:latin typeface="Consolas"/>
              </a:rPr>
              <a:t>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89320" y="53492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3730A3"/>
                </a:solidFill>
                <a:latin typeface="Segoe UI"/>
              </a:rPr>
              <a:t>Тип сразу участвует в поиске — перезапуск не нужен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35508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Segoe UI"/>
              </a:rPr>
              <a:t>Тесты: python -m pytest · API: /docs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4F46E5"/>
                </a:solidFill>
                <a:latin typeface="Segoe UI"/>
              </a:rPr>
              <a:t>ЧЕСТНО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1153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600" b="1">
                <a:solidFill>
                  <a:srgbClr val="1B1F2A"/>
                </a:solidFill>
                <a:latin typeface="Segoe UI"/>
              </a:rPr>
              <a:t>Что не сделано и почему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4206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1">
                <a:solidFill>
                  <a:srgbClr val="1B1F2A"/>
                </a:solidFill>
                <a:latin typeface="Segoe UI"/>
              </a:rPr>
              <a:t>Проверка исполнения — по правилам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4920" y="1828800"/>
            <a:ext cx="6309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Segoe UI"/>
              </a:rPr>
              <a:t>клиент должен явно сказать «перезвонили» или «не пришёл»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578608"/>
            <a:ext cx="10911535" cy="10972"/>
          </a:xfrm>
          <a:prstGeom prst="rect">
            <a:avLst/>
          </a:prstGeom>
          <a:solidFill>
            <a:srgbClr val="E5E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2697480"/>
            <a:ext cx="4206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1">
                <a:solidFill>
                  <a:srgbClr val="1B1F2A"/>
                </a:solidFill>
                <a:latin typeface="Segoe UI"/>
              </a:rPr>
              <a:t>Поиск на правилах, а не на большой модели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2697480"/>
            <a:ext cx="6309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Segoe UI"/>
              </a:rPr>
              <a:t>нужна объяснимость и работа офлайн; LLM — опциональный второй проход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447288"/>
            <a:ext cx="10911535" cy="10972"/>
          </a:xfrm>
          <a:prstGeom prst="rect">
            <a:avLst/>
          </a:prstGeom>
          <a:solidFill>
            <a:srgbClr val="E5E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3566160"/>
            <a:ext cx="4206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1">
                <a:solidFill>
                  <a:srgbClr val="1B1F2A"/>
                </a:solidFill>
                <a:latin typeface="Segoe UI"/>
              </a:rPr>
              <a:t>Праздники не учитываются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4920" y="3566160"/>
            <a:ext cx="6309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Segoe UI"/>
              </a:rPr>
              <a:t>нужен производственный календарь РФ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315968"/>
            <a:ext cx="10911535" cy="10972"/>
          </a:xfrm>
          <a:prstGeom prst="rect">
            <a:avLst/>
          </a:prstGeom>
          <a:solidFill>
            <a:srgbClr val="E5E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4206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1">
                <a:solidFill>
                  <a:srgbClr val="1B1F2A"/>
                </a:solidFill>
                <a:latin typeface="Segoe UI"/>
              </a:rPr>
              <a:t>SQLite и один процесс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74920" y="4434840"/>
            <a:ext cx="6309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Segoe UI"/>
              </a:rPr>
              <a:t>для нагрузки контакт-центра — PostgreSQL и очередь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184648"/>
            <a:ext cx="10911535" cy="10972"/>
          </a:xfrm>
          <a:prstGeom prst="rect">
            <a:avLst/>
          </a:prstGeom>
          <a:solidFill>
            <a:srgbClr val="E5E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0080" y="5303520"/>
            <a:ext cx="4206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1">
                <a:solidFill>
                  <a:srgbClr val="1B1F2A"/>
                </a:solidFill>
                <a:latin typeface="Segoe UI"/>
              </a:rPr>
              <a:t>Часовой пояс один на сервис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5303520"/>
            <a:ext cx="6309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Segoe UI"/>
              </a:rPr>
              <a:t>в данных кейса у операторов один пояс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053328"/>
            <a:ext cx="10911535" cy="10972"/>
          </a:xfrm>
          <a:prstGeom prst="rect">
            <a:avLst/>
          </a:prstGeom>
          <a:solidFill>
            <a:srgbClr val="E5E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40080" y="617220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3730A3"/>
                </a:solidFill>
                <a:latin typeface="Segoe UI"/>
              </a:rPr>
              <a:t>Дальше: пилот на реальной нагрузке, точность проверки и PostgreSQL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Segoe UI"/>
              </a:rPr>
              <a:t>Все ограничения перечислены в README и docs/AI_USAGE.md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05156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F59E0B"/>
                </a:solidFill>
                <a:latin typeface="Segoe UI"/>
              </a:rPr>
              <a:t>ИТОГ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2651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Segoe UI"/>
              </a:rPr>
              <a:t>52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514600"/>
            <a:ext cx="26517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C7CBE3"/>
                </a:solidFill>
                <a:latin typeface="Segoe UI"/>
              </a:rPr>
              <a:t>звонка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37560" y="1554480"/>
            <a:ext cx="2651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Segoe UI"/>
              </a:rPr>
              <a:t>189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37560" y="2514600"/>
            <a:ext cx="26517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C7CBE3"/>
                </a:solidFill>
                <a:latin typeface="Segoe UI"/>
              </a:rPr>
              <a:t>задач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0" y="1554480"/>
            <a:ext cx="2651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Segoe UI"/>
              </a:rPr>
              <a:t>3,6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2514600"/>
            <a:ext cx="26517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C7CBE3"/>
                </a:solidFill>
                <a:latin typeface="Segoe UI"/>
              </a:rPr>
              <a:t>обещания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C7CBE3"/>
                </a:solidFill>
                <a:latin typeface="Segoe UI"/>
              </a:rPr>
              <a:t>на звонок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1554480"/>
            <a:ext cx="2651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Segoe UI"/>
              </a:rPr>
              <a:t>78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32520" y="2514600"/>
            <a:ext cx="26517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C7CBE3"/>
                </a:solidFill>
                <a:latin typeface="Segoe UI"/>
              </a:rPr>
              <a:t>тестов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611880"/>
            <a:ext cx="10911535" cy="10972"/>
          </a:xfrm>
          <a:prstGeom prst="rect">
            <a:avLst/>
          </a:prstGeom>
          <a:solidFill>
            <a:srgbClr val="3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40080" y="3886200"/>
            <a:ext cx="7680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F59E0B"/>
                </a:solidFill>
                <a:latin typeface="Segoe UI"/>
              </a:rPr>
              <a:t>Дальше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160520"/>
            <a:ext cx="80467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Segoe UI"/>
              </a:rPr>
              <a:t>Пилот на реальной нагрузке: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Segoe UI"/>
              </a:rPr>
              <a:t>точность проверки и PostgreSQL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89720" y="3977639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6B7280"/>
                </a:solidFill>
                <a:latin typeface="Segoe UI"/>
              </a:rPr>
              <a:t>Репозиторий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89720" y="4251960"/>
            <a:ext cx="23774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C7CBE3"/>
                </a:solidFill>
                <a:latin typeface="Segoe UI"/>
              </a:rPr>
              <a:t>github.com/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C7CBE3"/>
                </a:solidFill>
                <a:latin typeface="Segoe UI"/>
              </a:rPr>
              <a:t>jabkamamka/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C7CBE3"/>
                </a:solidFill>
                <a:latin typeface="Segoe UI"/>
              </a:rPr>
              <a:t>promise-control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35508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9CA3AF"/>
                </a:solidFill>
                <a:latin typeface="Segoe UI"/>
              </a:rPr>
              <a:t>Кейс УралМикро · Хакатон 2026 · команда ЧИХПЫХ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Сервис контроля обещаний — защита, 7 минут</dc:title>
  <dc:subject>Кейс УралМикро, хакатон 2026</dc:subject>
  <dc:creator>Команда ЧИХПЫХ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