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Кейс УралМикро: обещание оператора теряется между звонками. Мы сделали сервис, который находит обещания в расшифровке и превращает их в задачи со сроком. Дальше — проблема, решение, демо и ограничения.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секунд. Проблема не в том, что оператор забыл, а в том, что обещание нигде не зафиксировано. В среднем 3,6 обещания на звонок. Дальше покажу, как это превращается в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секунд. Четыре шага: вебхук принимает звонки, детектор ищет обещания только в репликах оператора, каждое обещание становится задачей со сроком, дальше оператор ведёт статус. Всё умещается в один процесс — это важно для запуска на школьном компьютере.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80 секунд. Вот живая панель: 189 задач из 52 звонков, 22 уже просрочены — сервис посчитал сам. Покажу карточку: тип, срок, цитата, кнопки статуса. Кнопка «звонок» открывает расшифровку с подсветкой обещаний.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секунд. Ключевое: обещание — это глагол оператора в первом лице. Клиентские обещания, вопросы и прошедшее время не считаются. В одном звонке обычно 3–5 обещаний — каждое становится отдельной задачей. Тип выбирается по объекту и адресату, спорные случаи решает приоритет.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Парсер понимает числа словами, дни недели, рабочие дни и концы периодов. Если срок не назван — 24 часа. Фраза-источник сохраняется, чтобы на защите и в интерфейсе было видно, почему дедлайн такой.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Повторная обработка звонка не создаёт дублей — уникальный ключ в базе. Статусы ограничены правилами переходов, просрочка фиксируется в истории. Новый тип обещания добавляется через API: описание, ключевые слова, примеры — и он сразу работает.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Честно про ограничения: проверку исполнения не делали — кейс разрешает; поиск на правилах, а не на модели; SQLite. Следующий шаг — пилот на реальной нагрузке и замер точности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Итог: 52 звонка, 189 задач, 3,6 обещания на звонок, 78 тестов. Проверка исполнения по следующим звонкам уже работает. Дальше — пилот и точность. Спасибо,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КЕЙС УРАЛМИКРО · ХАКАТОН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949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Сервис контроля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обещаний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1188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C7CBE3"/>
                </a:solidFill>
                <a:latin typeface="Segoe UI"/>
              </a:rPr>
              <a:t>Расшифровка звонка → найденные обещания →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C7CBE3"/>
                </a:solidFill>
                <a:latin typeface="Segoe UI"/>
              </a:rPr>
              <a:t>задачи со сроком и статусом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600200"/>
            <a:ext cx="4160520" cy="2514600"/>
          </a:xfrm>
          <a:prstGeom prst="roundRect">
            <a:avLst>
              <a:gd name="adj" fmla="val 6000"/>
            </a:avLst>
          </a:prstGeom>
          <a:solidFill>
            <a:srgbClr val="1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635240" y="1874519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ПРОСРОЧЕНО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3317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Перезвонить клиенту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34640"/>
            <a:ext cx="3611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C7CBE3"/>
                </a:solidFill>
                <a:latin typeface="Segoe UI"/>
              </a:rPr>
              <a:t>«Перезвоню вам завтра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C7CBE3"/>
                </a:solidFill>
                <a:latin typeface="Segoe UI"/>
              </a:rPr>
              <a:t>в десять утра»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6118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Segoe UI"/>
              </a:rPr>
              <a:t>срок: 30 окт, 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CA3AF"/>
                </a:solidFill>
                <a:latin typeface="Segoe UI"/>
              </a:rPr>
              <a:t>github.com/jabkamamka/promise-control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1B1F2A"/>
                </a:solidFill>
                <a:latin typeface="Segoe UI"/>
              </a:rPr>
              <a:t>Обещание теряется между звонками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Segoe UI"/>
              </a:rPr>
              <a:t>Оператор пообещал перезвонить, выставить счёт или уточнить 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Segoe UI"/>
              </a:rPr>
              <a:t>и это нигде не зафиксировано.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417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59E0B"/>
                </a:solidFill>
                <a:latin typeface="Segoe UI"/>
              </a:rPr>
              <a:t>3,6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108960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Segoe UI"/>
              </a:rPr>
              <a:t>обещания на один звонок 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Segoe UI"/>
              </a:rPr>
              <a:t>замер на 52 расшифровках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1417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4F46E5"/>
                </a:solidFill>
                <a:latin typeface="Segoe UI"/>
              </a:rPr>
              <a:t>24 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4114800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Segoe UI"/>
              </a:rPr>
              <a:t>срок по умолчанию, если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Segoe UI"/>
              </a:rPr>
              <a:t>дата в разговоре не названа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417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4F46E5"/>
                </a:solidFill>
                <a:latin typeface="Segoe U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5120640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Segoe UI"/>
              </a:rPr>
              <a:t>типов обещаний: от звонка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Segoe UI"/>
              </a:rPr>
              <a:t>и документов до выезда мастера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74519"/>
            <a:ext cx="46177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Segoe UI"/>
              </a:rPr>
              <a:t>ИЗ РАСШИФРОВКИ ЗВОНКА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4871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1B1F2A"/>
                </a:solidFill>
                <a:latin typeface="Segoe UI"/>
              </a:rPr>
              <a:t>«Мне нужно уточнить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1B1F2A"/>
                </a:solidFill>
                <a:latin typeface="Segoe UI"/>
              </a:rPr>
              <a:t>у производства. Я вам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1B1F2A"/>
                </a:solidFill>
                <a:latin typeface="Segoe UI"/>
              </a:rPr>
              <a:t>перезвоню в понедельник…»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8404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— оператор, 4 минуты разговора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22452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Где этот понедельник? Кто проверит?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Источник: 52 расшифровки из API УралМикро, прогон сервиса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1B1F2A"/>
                </a:solidFill>
                <a:latin typeface="Segoe UI"/>
              </a:rPr>
              <a:t>От звонка до закрытой задачи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2395728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96112" y="22402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88036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B1F2A"/>
                </a:solidFill>
                <a:latin typeface="Segoe UI"/>
              </a:rPr>
              <a:t>Звонок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383280"/>
            <a:ext cx="193852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POST /webhook/calls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10 звонков за раз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повтор не создаёт дублей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36392" y="3246120"/>
            <a:ext cx="182880" cy="201168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419856" y="1965960"/>
            <a:ext cx="2395728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675888" y="22402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88036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B1F2A"/>
                </a:solidFill>
                <a:latin typeface="Segoe UI"/>
              </a:rPr>
              <a:t>Поиск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3383280"/>
            <a:ext cx="193852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только реплики оператора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7 типов обещаний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смысл, а не ключевые слова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16168" y="3246120"/>
            <a:ext cx="182880" cy="201168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99632" y="1965960"/>
            <a:ext cx="2395728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55664" y="22402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88036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B1F2A"/>
                </a:solidFill>
                <a:latin typeface="Segoe UI"/>
              </a:rPr>
              <a:t>Задача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383280"/>
            <a:ext cx="193852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срок из фразы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цитата и номер реплики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свой тип через API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95944" y="3246120"/>
            <a:ext cx="182880" cy="201168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979408" y="1965960"/>
            <a:ext cx="2395728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235440" y="22402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8036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B1F2A"/>
                </a:solidFill>
                <a:latin typeface="Segoe UI"/>
              </a:rPr>
              <a:t>Статус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383280"/>
            <a:ext cx="193852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создана → в работе →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выполнена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просрочка и проверка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1B1F2A"/>
                </a:solidFill>
                <a:latin typeface="Segoe UI"/>
              </a:rPr>
              <a:t>Один Python-процесс и SQLite: запускается на школьном ноутбуке одной командой, работает без интернета.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Стек: Python 3.11+, FastAPI, SQLite, 119 тестов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1B1F2A"/>
                </a:solidFill>
                <a:latin typeface="Segoe UI"/>
              </a:rPr>
              <a:t>189 задач из 52 звонков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58368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828800"/>
            <a:ext cx="6583680" cy="4572000"/>
          </a:xfrm>
          <a:prstGeom prst="rect">
            <a:avLst/>
          </a:prstGeom>
          <a:noFill/>
          <a:ln w="12700">
            <a:solidFill>
              <a:srgbClr val="E5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43800" y="187451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730A3"/>
                </a:solidFill>
                <a:latin typeface="Segoe UI"/>
              </a:rPr>
              <a:t>Фильтры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167127"/>
            <a:ext cx="3886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статус, тип, оператор,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срок, поиск по цитате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92607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730A3"/>
                </a:solidFill>
                <a:latin typeface="Segoe UI"/>
              </a:rPr>
              <a:t>Цитата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3218687"/>
            <a:ext cx="3886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у каждой задачи — реплика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оператора и её номер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97763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730A3"/>
                </a:solidFill>
                <a:latin typeface="Segoe UI"/>
              </a:rPr>
              <a:t>Статус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270248"/>
            <a:ext cx="3886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в работу и выполнено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прямо из карточки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50292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730A3"/>
                </a:solidFill>
                <a:latin typeface="Segoe UI"/>
              </a:rPr>
              <a:t>Звонок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5321808"/>
            <a:ext cx="3886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расшифровка целиком,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обещания подсвечены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Панель оператора: http://localhost:8080/ · Swagger: /docs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КАК РАБОТАЕТ ПОИСК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1B1F2A"/>
                </a:solidFill>
                <a:latin typeface="Segoe UI"/>
              </a:rPr>
              <a:t>Обещание — глагол оператора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B1F2A"/>
                </a:solidFill>
                <a:latin typeface="Segoe UI"/>
              </a:rPr>
              <a:t>Только оператор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39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«Я пришлю вам фото» клиента — не обязательство компании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3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B1F2A"/>
                </a:solidFill>
                <a:latin typeface="Segoe UI"/>
              </a:rPr>
              <a:t>Будущее время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59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«перезвоню», «отправлю», «уточню»; вопросы и прошедшее время отсекаются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5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B1F2A"/>
                </a:solidFill>
                <a:latin typeface="Segoe UI"/>
              </a:rPr>
              <a:t>Тип по объекту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79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документ → выслать, «смс» → напомнить, «выезд» → визит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7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B1F2A"/>
                </a:solidFill>
                <a:latin typeface="Segoe UI"/>
              </a:rPr>
              <a:t>Приоритет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199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если в реплике два действия — побеждает то, что клиент увидит сам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828800"/>
            <a:ext cx="603504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60720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Segoe UI"/>
              </a:rPr>
              <a:t>ОДИН ЗВОНОК — ЧЕТЫРЕ ОБЕЩАНИЯ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340864"/>
            <a:ext cx="5577840" cy="566928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52160" y="2377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Segoe UI"/>
              </a:rPr>
              <a:t>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37744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B1F2A"/>
                </a:solidFill>
                <a:latin typeface="Segoe UI"/>
              </a:rPr>
              <a:t>Мне нужно уточнить у производства. Я вам перезвоню в понедельник.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999232"/>
            <a:ext cx="5577840" cy="566928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52160" y="30358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Segoe UI"/>
              </a:rPr>
              <a:t>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035808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B1F2A"/>
                </a:solidFill>
                <a:latin typeface="Segoe UI"/>
              </a:rPr>
              <a:t>Оформлю повторный выезд и свяжусь с вами завтра.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3657600"/>
            <a:ext cx="5577840" cy="566928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2160" y="36941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Segoe UI"/>
              </a:rPr>
              <a:t>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694176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B1F2A"/>
                </a:solidFill>
                <a:latin typeface="Segoe UI"/>
              </a:rPr>
              <a:t>Не буду гадать, уточню у юристов и вернусь с ответом через день.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4315968"/>
            <a:ext cx="5577840" cy="566928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852160" y="4352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Segoe UI"/>
              </a:rPr>
              <a:t>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352544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B1F2A"/>
                </a:solidFill>
                <a:latin typeface="Segoe UI"/>
              </a:rPr>
              <a:t>Пришлю подробную инструкцию на вашу почту в течение получаса.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50109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6B7280"/>
                </a:solidFill>
                <a:latin typeface="Segoe UI"/>
              </a:rPr>
              <a:t>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010912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Хорошо, жду.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8932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730A3"/>
                </a:solidFill>
                <a:latin typeface="Segoe UI"/>
              </a:rPr>
              <a:t>→ 4 задачи: 2 уточнения, 1 звонок, 1 документ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Правила описаны в app/services/taxonomy.py и detect.py — без чёрного ящика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СРОКИ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1B1F2A"/>
                </a:solidFill>
                <a:latin typeface="Segoe UI"/>
              </a:rPr>
              <a:t>«Завтра до обеда» = 30 окт, 12:00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3108960"/>
                <a:gridCol w="2194560"/>
              </a:tblGrid>
              <a:tr h="5094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7280"/>
                          </a:solidFill>
                          <a:latin typeface="Segoe UI"/>
                        </a:rPr>
                        <a:t>Фраза в разговоре</a:t>
                      </a:r>
                    </a:p>
                  </a:txBody>
                  <a:tcPr marL="109728" marT="54864" marB="54864">
                    <a:solidFill>
                      <a:srgbClr val="E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7280"/>
                          </a:solidFill>
                          <a:latin typeface="Segoe UI"/>
                        </a:rPr>
                        <a:t>Срок</a:t>
                      </a:r>
                    </a:p>
                  </a:txBody>
                  <a:tcPr marL="109728" marT="54864" marB="54864">
                    <a:solidFill>
                      <a:srgbClr val="EF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7280"/>
                          </a:solidFill>
                          <a:latin typeface="Segoe UI"/>
                        </a:rPr>
                        <a:t>Правило</a:t>
                      </a:r>
                    </a:p>
                  </a:txBody>
                  <a:tcPr marL="109728" marT="54864" marB="54864">
                    <a:solidFill>
                      <a:srgbClr val="EFF0F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A"/>
                          </a:solidFill>
                          <a:latin typeface="Segoe UI"/>
                        </a:rPr>
                        <a:t>Перезвоню в понедельник</a:t>
                      </a:r>
                    </a:p>
                  </a:txBody>
                  <a:tcPr marL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730A3"/>
                          </a:solidFill>
                          <a:latin typeface="Segoe UI"/>
                        </a:rPr>
                        <a:t>пн, 18:00</a:t>
                      </a:r>
                    </a:p>
                  </a:txBody>
                  <a:tcPr marL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280"/>
                          </a:solidFill>
                          <a:latin typeface="Segoe UI"/>
                        </a:rPr>
                        <a:t>день недели</a:t>
                      </a:r>
                    </a:p>
                  </a:txBody>
                  <a:tcPr marL="109728" marT="73152" marB="7315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A"/>
                          </a:solidFill>
                          <a:latin typeface="Segoe UI"/>
                        </a:rPr>
                        <a:t>Отправлю завтра до обеда</a:t>
                      </a:r>
                    </a:p>
                  </a:txBody>
                  <a:tcPr marL="109728" marT="73152" marB="73152">
                    <a:solidFill>
                      <a:srgbClr val="F9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730A3"/>
                          </a:solidFill>
                          <a:latin typeface="Segoe UI"/>
                        </a:rPr>
                        <a:t>пт, 12:00</a:t>
                      </a:r>
                    </a:p>
                  </a:txBody>
                  <a:tcPr marL="109728" marT="73152" marB="73152">
                    <a:solidFill>
                      <a:srgbClr val="F9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280"/>
                          </a:solidFill>
                          <a:latin typeface="Segoe UI"/>
                        </a:rPr>
                        <a:t>день + время суток</a:t>
                      </a:r>
                    </a:p>
                  </a:txBody>
                  <a:tcPr marL="109728" marT="73152" marB="73152">
                    <a:solidFill>
                      <a:srgbClr val="F9FA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A"/>
                          </a:solidFill>
                          <a:latin typeface="Segoe UI"/>
                        </a:rPr>
                        <a:t>Пришлю в течение получаса</a:t>
                      </a:r>
                    </a:p>
                  </a:txBody>
                  <a:tcPr marL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730A3"/>
                          </a:solidFill>
                          <a:latin typeface="Segoe UI"/>
                        </a:rPr>
                        <a:t>+30 минут</a:t>
                      </a:r>
                    </a:p>
                  </a:txBody>
                  <a:tcPr marL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280"/>
                          </a:solidFill>
                          <a:latin typeface="Segoe UI"/>
                        </a:rPr>
                        <a:t>относительный</a:t>
                      </a:r>
                    </a:p>
                  </a:txBody>
                  <a:tcPr marL="109728" marT="73152" marB="7315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A"/>
                          </a:solidFill>
                          <a:latin typeface="Segoe UI"/>
                        </a:rPr>
                        <a:t>Вернусь в течение трёх рабочих дней</a:t>
                      </a:r>
                    </a:p>
                  </a:txBody>
                  <a:tcPr marL="109728" marT="73152" marB="73152">
                    <a:solidFill>
                      <a:srgbClr val="F9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730A3"/>
                          </a:solidFill>
                          <a:latin typeface="Segoe UI"/>
                        </a:rPr>
                        <a:t>+3 рабочих дня, 18:00</a:t>
                      </a:r>
                    </a:p>
                  </a:txBody>
                  <a:tcPr marL="109728" marT="73152" marB="73152">
                    <a:solidFill>
                      <a:srgbClr val="F9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280"/>
                          </a:solidFill>
                          <a:latin typeface="Segoe UI"/>
                        </a:rPr>
                        <a:t>рабочие дни</a:t>
                      </a:r>
                    </a:p>
                  </a:txBody>
                  <a:tcPr marL="109728" marT="73152" marB="73152">
                    <a:solidFill>
                      <a:srgbClr val="F9FA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A"/>
                          </a:solidFill>
                          <a:latin typeface="Segoe UI"/>
                        </a:rPr>
                        <a:t>Отправлю до конца недели</a:t>
                      </a:r>
                    </a:p>
                  </a:txBody>
                  <a:tcPr marL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730A3"/>
                          </a:solidFill>
                          <a:latin typeface="Segoe UI"/>
                        </a:rPr>
                        <a:t>пятница, 18:00</a:t>
                      </a:r>
                    </a:p>
                  </a:txBody>
                  <a:tcPr marL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280"/>
                          </a:solidFill>
                          <a:latin typeface="Segoe UI"/>
                        </a:rPr>
                        <a:t>конец периода</a:t>
                      </a:r>
                    </a:p>
                  </a:txBody>
                  <a:tcPr marL="109728" marT="73152" marB="73152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A"/>
                          </a:solidFill>
                          <a:latin typeface="Segoe UI"/>
                        </a:rPr>
                        <a:t>Срок не назван</a:t>
                      </a:r>
                    </a:p>
                  </a:txBody>
                  <a:tcPr marL="109728" marT="73152" marB="73152">
                    <a:solidFill>
                      <a:srgbClr val="F9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730A3"/>
                          </a:solidFill>
                          <a:latin typeface="Segoe UI"/>
                        </a:rPr>
                        <a:t>+24 часа</a:t>
                      </a:r>
                    </a:p>
                  </a:txBody>
                  <a:tcPr marL="109728" marT="73152" marB="73152">
                    <a:solidFill>
                      <a:srgbClr val="F9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280"/>
                          </a:solidFill>
                          <a:latin typeface="Segoe UI"/>
                        </a:rPr>
                        <a:t>по умолчанию</a:t>
                      </a:r>
                    </a:p>
                  </a:txBody>
                  <a:tcPr marL="109728" marT="73152" marB="73152">
                    <a:solidFill>
                      <a:srgbClr val="F9FA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03720" y="56692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Если срок получился в прошлом 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сдвигаем на час, а не помечаем просроченным сразу.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Часовой пояс оператора из APP_TIMEZONE · фраза-источник сохраняется в due_hint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НАДЁЖНОСТЬ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1B1F2A"/>
                </a:solidFill>
                <a:latin typeface="Segoe UI"/>
              </a:rPr>
              <a:t>Дубли, статусы, новые типы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B1F2A"/>
                </a:solidFill>
                <a:latin typeface="Segoe UI"/>
              </a:rPr>
              <a:t>Защита от дублей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39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calls.id + UNIQUE dedupe_key: повторный звонок не создаёт задачи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15768"/>
            <a:ext cx="4983480" cy="10972"/>
          </a:xfrm>
          <a:prstGeom prst="rect">
            <a:avLst/>
          </a:prstGeom>
          <a:solidFill>
            <a:srgbClr val="E5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8620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B1F2A"/>
                </a:solidFill>
                <a:latin typeface="Segoe UI"/>
              </a:rPr>
              <a:t>Статусы и история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36391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создана → в работе → выполнена; просрочка вычисляется и пишется в историю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03320"/>
            <a:ext cx="4983480" cy="10972"/>
          </a:xfrm>
          <a:prstGeom prst="rect">
            <a:avLst/>
          </a:prstGeom>
          <a:solidFill>
            <a:srgbClr val="E5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8496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B1F2A"/>
                </a:solidFill>
                <a:latin typeface="Segoe UI"/>
              </a:rPr>
              <a:t>119 тестов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23944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сроки, детектор, API, идемпотентность, проверка исполнения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90872"/>
            <a:ext cx="4983480" cy="10972"/>
          </a:xfrm>
          <a:prstGeom prst="rect">
            <a:avLst/>
          </a:prstGeom>
          <a:solidFill>
            <a:srgbClr val="E5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B1F2A"/>
                </a:solidFill>
                <a:latin typeface="Segoe UI"/>
              </a:rPr>
              <a:t>Свой тип через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11496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название, описание, ключевые слова — работает на следующих звонках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828800"/>
            <a:ext cx="5532120" cy="3383280"/>
          </a:xfrm>
          <a:prstGeom prst="roundRect">
            <a:avLst>
              <a:gd name="adj" fmla="val 4000"/>
            </a:avLst>
          </a:prstGeom>
          <a:solidFill>
            <a:srgbClr val="141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POST /api/v1/promise-types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31720"/>
            <a:ext cx="49834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2E5F0"/>
                </a:solidFill>
                <a:latin typeface="Consolas"/>
              </a:rPr>
              <a:t>{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2E5F0"/>
                </a:solidFill>
                <a:latin typeface="Consolas"/>
              </a:rPr>
              <a:t>  "title": "Согласовать скидку",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2E5F0"/>
                </a:solidFill>
                <a:latin typeface="Consolas"/>
              </a:rPr>
              <a:t>  "description": "Оператор обещает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2E5F0"/>
                </a:solidFill>
                <a:latin typeface="Consolas"/>
              </a:rPr>
              <a:t>    согласовать скидку и вернуться",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2E5F0"/>
                </a:solidFill>
                <a:latin typeface="Consolas"/>
              </a:rPr>
              <a:t>  "keywords": ["скидк", "согласую"],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2E5F0"/>
                </a:solidFill>
                <a:latin typeface="Consolas"/>
              </a:rPr>
              <a:t>  "examples": ["Согласую скидку"]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2E5F0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5349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730A3"/>
                </a:solidFill>
                <a:latin typeface="Segoe UI"/>
              </a:rPr>
              <a:t>Тип сразу участвует в поиске — перезапуск не нужен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Тесты: python -m pytest · API: /docs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ЧЕСТНО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1B1F2A"/>
                </a:solidFill>
                <a:latin typeface="Segoe UI"/>
              </a:rPr>
              <a:t>Что не сделано и почему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B1F2A"/>
                </a:solidFill>
                <a:latin typeface="Segoe UI"/>
              </a:rPr>
              <a:t>Проверка исполнения — по правилам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4920" y="182880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клиент должен явно сказать «перезвонили» или «не пришёл»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78608"/>
            <a:ext cx="10911535" cy="10972"/>
          </a:xfrm>
          <a:prstGeom prst="rect">
            <a:avLst/>
          </a:prstGeom>
          <a:solidFill>
            <a:srgbClr val="E5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B1F2A"/>
                </a:solidFill>
                <a:latin typeface="Segoe UI"/>
              </a:rPr>
              <a:t>Поиск на правилах, а не на большой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69748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нужна объяснимость и работа офлайн; LLM — опциональный второй проход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47288"/>
            <a:ext cx="10911535" cy="10972"/>
          </a:xfrm>
          <a:prstGeom prst="rect">
            <a:avLst/>
          </a:prstGeom>
          <a:solidFill>
            <a:srgbClr val="E5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B1F2A"/>
                </a:solidFill>
                <a:latin typeface="Segoe UI"/>
              </a:rPr>
              <a:t>Праздники не учитываются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56616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нужен производственный календарь РФ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15968"/>
            <a:ext cx="10911535" cy="10972"/>
          </a:xfrm>
          <a:prstGeom prst="rect">
            <a:avLst/>
          </a:prstGeom>
          <a:solidFill>
            <a:srgbClr val="E5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B1F2A"/>
                </a:solidFill>
                <a:latin typeface="Segoe UI"/>
              </a:rPr>
              <a:t>SQLite и один процесс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443484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для нагрузки контакт-центра — PostgreSQL и очередь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184648"/>
            <a:ext cx="10911535" cy="10972"/>
          </a:xfrm>
          <a:prstGeom prst="rect">
            <a:avLst/>
          </a:prstGeom>
          <a:solidFill>
            <a:srgbClr val="E5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B1F2A"/>
                </a:solidFill>
                <a:latin typeface="Segoe UI"/>
              </a:rPr>
              <a:t>Часовой пояс один на сервис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530352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в данных кейса у операторов один пояс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053328"/>
            <a:ext cx="10911535" cy="10972"/>
          </a:xfrm>
          <a:prstGeom prst="rect">
            <a:avLst/>
          </a:prstGeom>
          <a:solidFill>
            <a:srgbClr val="E5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6172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3730A3"/>
                </a:solidFill>
                <a:latin typeface="Segoe UI"/>
              </a:rPr>
              <a:t>Дальше: пилот на реальной нагрузке, точность проверки и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Все ограничения перечислены в README и docs/AI_USAGE.md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CBE3"/>
                </a:solidFill>
                <a:latin typeface="Segoe UI"/>
              </a:rPr>
              <a:t>звонка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5544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251460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CBE3"/>
                </a:solidFill>
                <a:latin typeface="Segoe UI"/>
              </a:rPr>
              <a:t>задач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5544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51460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CBE3"/>
                </a:solidFill>
                <a:latin typeface="Segoe UI"/>
              </a:rPr>
              <a:t>обещания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CBE3"/>
                </a:solidFill>
                <a:latin typeface="Segoe UI"/>
              </a:rPr>
              <a:t>на звонок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5544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51460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CBE3"/>
                </a:solidFill>
                <a:latin typeface="Segoe UI"/>
              </a:rPr>
              <a:t>тестов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10911535" cy="10972"/>
          </a:xfrm>
          <a:prstGeom prst="rect">
            <a:avLst/>
          </a:prstGeom>
          <a:solidFill>
            <a:srgbClr val="3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Дальше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8046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Пилот на реальной нагрузке: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точность проверки и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39776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Segoe UI"/>
              </a:rPr>
              <a:t>Репозиторий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4251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C7CBE3"/>
                </a:solidFill>
                <a:latin typeface="Segoe UI"/>
              </a:rPr>
              <a:t>github.com/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C7CBE3"/>
                </a:solidFill>
                <a:latin typeface="Segoe UI"/>
              </a:rPr>
              <a:t>jabkamamka/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C7CBE3"/>
                </a:solidFill>
                <a:latin typeface="Segoe UI"/>
              </a:rPr>
              <a:t>promise-control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CA3AF"/>
                </a:solidFill>
                <a:latin typeface="Segoe UI"/>
              </a:rPr>
              <a:t>Кейс УралМикро · Хакатон 2026 · команда ЧИХПЫХ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Сервис контроля обещаний — защита, 7 минут</dc:title>
  <dc:subject>Кейс УралМикро, хакатон 2026</dc:subject>
  <dc:creator>Команда ЧИХПЫХ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